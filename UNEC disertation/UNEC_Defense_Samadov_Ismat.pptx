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learning</c:v>
                </c:pt>
              </c:strCache>
            </c:strRef>
          </c:tx>
          <c:spPr>
            <a:solidFill>
              <a:srgbClr val="0E9384"/>
            </a:solidFill>
            <a:ln w="44450" cap="flat">
              <a:solidFill>
                <a:srgbClr val="0E938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E9384"/>
              </a:solidFill>
              <a:ln w="9525" cap="flat">
                <a:solidFill>
                  <a:srgbClr val="0E938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10%</c:v>
                  </c:pt>
                  <c:pt idx="1">
                    <c:v>20%</c:v>
                  </c:pt>
                  <c:pt idx="2">
                    <c:v>30%</c:v>
                  </c:pt>
                  <c:pt idx="3">
                    <c:v>40%</c:v>
                  </c:pt>
                  <c:pt idx="4">
                    <c:v>60%</c:v>
                  </c:pt>
                  <c:pt idx="5">
                    <c:v>80%</c:v>
                  </c:pt>
                  <c:pt idx="6">
                    <c:v>100%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0.62</c:v>
                </c:pt>
                <c:pt idx="1">
                  <c:v>0.74</c:v>
                </c:pt>
                <c:pt idx="2">
                  <c:v>0.82</c:v>
                </c:pt>
                <c:pt idx="3">
                  <c:v>0.87</c:v>
                </c:pt>
                <c:pt idx="4">
                  <c:v>0.885</c:v>
                </c:pt>
                <c:pt idx="5">
                  <c:v>0.888</c:v>
                </c:pt>
                <c:pt idx="6">
                  <c:v>0.89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sampling</c:v>
                </c:pt>
              </c:strCache>
            </c:strRef>
          </c:tx>
          <c:spPr>
            <a:solidFill>
              <a:srgbClr val="F5A623"/>
            </a:solidFill>
            <a:ln w="4445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10%</c:v>
                  </c:pt>
                  <c:pt idx="1">
                    <c:v>20%</c:v>
                  </c:pt>
                  <c:pt idx="2">
                    <c:v>30%</c:v>
                  </c:pt>
                  <c:pt idx="3">
                    <c:v>40%</c:v>
                  </c:pt>
                  <c:pt idx="4">
                    <c:v>60%</c:v>
                  </c:pt>
                  <c:pt idx="5">
                    <c:v>80%</c:v>
                  </c:pt>
                  <c:pt idx="6">
                    <c:v>100%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0.55</c:v>
                </c:pt>
                <c:pt idx="1">
                  <c:v>0.64</c:v>
                </c:pt>
                <c:pt idx="2">
                  <c:v>0.71</c:v>
                </c:pt>
                <c:pt idx="3">
                  <c:v>0.77</c:v>
                </c:pt>
                <c:pt idx="4">
                  <c:v>0.83</c:v>
                </c:pt>
                <c:pt idx="5">
                  <c:v>0.87</c:v>
                </c:pt>
                <c:pt idx="6">
                  <c:v>0.89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C8F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C8F"/>
                    </a:solidFill>
                    <a:latin typeface="Arial"/>
                  </a:rPr>
                  <a:t>Share of data labeled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5"/>
        </c:scaling>
        <c:delete val="0"/>
        <c:axPos val="l"/>
        <c:majorGridlines>
          <c:spPr>
            <a:ln w="6350" cap="flat">
              <a:solidFill>
                <a:srgbClr val="EAEF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2A3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Enrollment</c:v>
                </c:pt>
              </c:strCache>
            </c:strRef>
          </c:tx>
          <c:spPr>
            <a:solidFill>
              <a:srgbClr val="0E93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2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938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Free</c:v>
                  </c:pt>
                  <c:pt idx="1">
                    <c:v>Paid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3049</c:v>
                </c:pt>
                <c:pt idx="1">
                  <c:v>46291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A2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3F7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sec. Greet the council, state name + topic + supervisor. One-line hook: 'I show that letting the model choose what to label reaches almost the same accuracy with a fraction of the cost — and the extracted data drives real business decisions.'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sec. Trace the arc with your hand; don't read the cards. 'Problem → idea → method → result → value.'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makes NER tangible for non-specialists. Read the sentence, point to each colored entity, then show that under the hood each word carries a B/I/O tag.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Criterion 2. Land the tension: accuracy wants more labels; labels are the main cost. The teal question is what the whole thesis answers.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gap as your opening. The italic line is your contribution sentence — say it deliberately.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AIM slowly — goal/topic alignment is scored here. Objectives and RQs map one-to-one.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 = the NER systems; subject = the AL strategies acting on them (Azerbaijani format expects both). F1 is flagged as the headline metric.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'why not BERT?', the amber node and bottom line are your answer: controlled choice that isolates the sampling effect; transformers are future work. ~1.5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heart. Point to the coral dots straddling the boundary: 'these are the hard cases the model asks about; the grey ones it already knows.' Makes the whole method intuitive. ~1.5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Anticipated Q — 'why both?' Answer in the navy bar: pure uncertainty picks redundant/noisy points; diversity ensures coverage.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heart of the defence. Trace the loop with your finger: seed → train → score → HYBRID QUERY (amber, the novel step) → annotate → retrain → repeat. Spend the most time here.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Criterion 5. Hit the four tiles, the pipeline, then the domain-specific entity types (not generic PERSON/LOC).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where teal (AL) rises faster and plateaus sooner than amber (random). Say the curve shows the trend; the exact endpoint is next slide. ~1.5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moment. Pause. 'Almost the same accuracy — 0.87 vs 0.89 — using 40% of the labels.' Let the amber bar land. Answers RQ1 and RQ4. ~1 min with a deliberate pause.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bar — paid ≈ 15× free engagement, the surprising finding. Then sweep the four cards. Tie back: these come straight from the NER-extracted fields. ~1.5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Criterion 7 — proposals linked to research. Every action traces to a specific finding. Highlight the two NOW items.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examiners with your own limitations — it reads as maturity. Close by restating novelty in one breath. ~1.5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Stay here for Q&amp;A. Likely questions: why BiLSTM-CRF not BERT (isolates sampling effect); why hybrid querying (coverage + boundary); single-domain generalisability (literature supports the trend); how 40% was chosen (budget simulation across iterations).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737360"/>
            <a:ext cx="4754880" cy="4754880"/>
          </a:xfrm>
          <a:prstGeom prst="ellipse">
            <a:avLst/>
          </a:prstGeom>
          <a:solidFill>
            <a:srgbClr val="1C3C5E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023360"/>
            <a:ext cx="3291840" cy="3291840"/>
          </a:xfrm>
          <a:prstGeom prst="ellipse">
            <a:avLst/>
          </a:prstGeom>
          <a:solidFill>
            <a:srgbClr val="0FB5A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137160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0FB5A6">
              <a:alpha val="8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784080" y="13716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B-ORG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881360" y="2286000"/>
            <a:ext cx="1207008" cy="420624"/>
          </a:xfrm>
          <a:prstGeom prst="roundRect">
            <a:avLst>
              <a:gd name="adj" fmla="val 50000"/>
            </a:avLst>
          </a:prstGeom>
          <a:solidFill>
            <a:srgbClr val="F5A623">
              <a:alpha val="8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881360" y="228600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I-PRICE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509760" y="310896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FF6B6B">
              <a:alpha val="8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509760" y="310896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B-CAT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338560" y="1097280"/>
            <a:ext cx="603504" cy="420624"/>
          </a:xfrm>
          <a:prstGeom prst="roundRect">
            <a:avLst>
              <a:gd name="adj" fmla="val 50000"/>
            </a:avLst>
          </a:prstGeom>
          <a:solidFill>
            <a:srgbClr val="8B7CF6">
              <a:alpha val="8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338560" y="1097280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DEFENCE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137160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Learning for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Entity Recognition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41248" y="2971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AF0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Reducing labeled-data requirements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22960" y="4023360"/>
            <a:ext cx="7040880" cy="18288"/>
          </a:xfrm>
          <a:prstGeom prst="roundRect">
            <a:avLst/>
          </a:prstGeom>
          <a:solidFill>
            <a:srgbClr val="0FB5A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Master: </a:t>
            </a:r>
            <a:pPr indent="0" marL="0">
              <a:buNone/>
            </a:pPr>
            <a:r>
              <a:rPr lang="en-US" sz="1500" dirty="0">
                <a:solidFill>
                  <a:srgbClr val="8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Samadov Ismat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Supervisor: </a:t>
            </a:r>
            <a:pPr indent="0" marL="0">
              <a:buNone/>
            </a:pPr>
            <a:r>
              <a:rPr lang="en-US" sz="1500" dirty="0">
                <a:solidFill>
                  <a:srgbClr val="8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Tahir Gurbanov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892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UNEC Business School · Specialisation: Artificial Intelligence · Group E27-24 · Baku,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going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2057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261872" y="2148840"/>
            <a:ext cx="640080" cy="640080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304288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3017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58368" y="3520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is the cost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2624328" y="3017520"/>
            <a:ext cx="146304" cy="256032"/>
          </a:xfrm>
          <a:prstGeom prst="rtTriangle">
            <a:avLst/>
          </a:prstGeom>
          <a:solidFill>
            <a:srgbClr val="0FB5A6"/>
          </a:solidFill>
          <a:ln/>
        </p:spPr>
      </p:sp>
      <p:sp>
        <p:nvSpPr>
          <p:cNvPr id="11" name="Shape 7"/>
          <p:cNvSpPr/>
          <p:nvPr/>
        </p:nvSpPr>
        <p:spPr>
          <a:xfrm>
            <a:off x="2788920" y="1828800"/>
            <a:ext cx="2057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02152" y="2148840"/>
            <a:ext cx="640080" cy="640080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3042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880360" y="3017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898648" y="3520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864608" y="3017520"/>
            <a:ext cx="146304" cy="256032"/>
          </a:xfrm>
          <a:prstGeom prst="rtTriangle">
            <a:avLst/>
          </a:prstGeom>
          <a:solidFill>
            <a:srgbClr val="0FB5A6"/>
          </a:solidFill>
          <a:ln/>
        </p:spPr>
      </p:sp>
      <p:sp>
        <p:nvSpPr>
          <p:cNvPr id="17" name="Shape 12"/>
          <p:cNvSpPr/>
          <p:nvPr/>
        </p:nvSpPr>
        <p:spPr>
          <a:xfrm>
            <a:off x="5029200" y="1828800"/>
            <a:ext cx="2057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742432" y="2148840"/>
            <a:ext cx="640080" cy="640080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30428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20640" y="3017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138928" y="3520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BiLSTM-CRF + queries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104888" y="3017520"/>
            <a:ext cx="146304" cy="256032"/>
          </a:xfrm>
          <a:prstGeom prst="rtTriangle">
            <a:avLst/>
          </a:prstGeom>
          <a:solidFill>
            <a:srgbClr val="0FB5A6"/>
          </a:solidFill>
          <a:ln/>
        </p:spPr>
      </p:sp>
      <p:sp>
        <p:nvSpPr>
          <p:cNvPr id="23" name="Shape 17"/>
          <p:cNvSpPr/>
          <p:nvPr/>
        </p:nvSpPr>
        <p:spPr>
          <a:xfrm>
            <a:off x="7269480" y="1828800"/>
            <a:ext cx="2057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982712" y="214884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30428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60920" y="3017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7379208" y="3520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accuracy, fewer labels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9345168" y="3017520"/>
            <a:ext cx="146304" cy="256032"/>
          </a:xfrm>
          <a:prstGeom prst="rtTriangle">
            <a:avLst/>
          </a:prstGeom>
          <a:solidFill>
            <a:srgbClr val="0FB5A6"/>
          </a:solidFill>
          <a:ln/>
        </p:spPr>
      </p:sp>
      <p:sp>
        <p:nvSpPr>
          <p:cNvPr id="29" name="Shape 22"/>
          <p:cNvSpPr/>
          <p:nvPr/>
        </p:nvSpPr>
        <p:spPr>
          <a:xfrm>
            <a:off x="9509760" y="1828800"/>
            <a:ext cx="2057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0222992" y="2148840"/>
            <a:ext cx="640080" cy="640080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8440" y="230428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601200" y="3017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9619488" y="3520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NER actually do?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316736" y="9144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free text into structured fields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94360" y="13258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plain text and labels the meaningful pieces — the same job a person does when skim-reading a course page: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94360" y="1965960"/>
            <a:ext cx="11018520" cy="1417320"/>
          </a:xfrm>
          <a:prstGeom prst="roundRect">
            <a:avLst>
              <a:gd name="adj" fmla="val 5806"/>
            </a:avLst>
          </a:prstGeom>
          <a:solidFill>
            <a:srgbClr val="0F2540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196596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dirty="0">
                <a:solidFill>
                  <a:srgbClr val="DCE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8AF0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of Leeds</a:t>
            </a:r>
            <a:pPr indent="0" marL="0">
              <a:lnSpc>
                <a:spcPct val="105000"/>
              </a:lnSpc>
              <a:buNone/>
            </a:pPr>
            <a:r>
              <a:rPr lang="en-US" sz="2500" dirty="0">
                <a:solidFill>
                  <a:srgbClr val="DCE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offers a </a:t>
            </a:r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C9B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5-week</a:t>
            </a:r>
            <a:pPr indent="0" marL="0">
              <a:lnSpc>
                <a:spcPct val="105000"/>
              </a:lnSpc>
              <a:buNone/>
            </a:pPr>
            <a:r>
              <a:rPr lang="en-US" sz="2500" dirty="0">
                <a:solidFill>
                  <a:srgbClr val="DCE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B0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pPr indent="0" marL="0">
              <a:lnSpc>
                <a:spcPct val="105000"/>
              </a:lnSpc>
              <a:buNone/>
            </a:pPr>
            <a:r>
              <a:rPr lang="en-US" sz="2500" dirty="0">
                <a:solidFill>
                  <a:srgbClr val="DCE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course for </a:t>
            </a:r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BD3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£39</a:t>
            </a:r>
            <a:pPr indent="0" marL="0">
              <a:lnSpc>
                <a:spcPct val="105000"/>
              </a:lnSpc>
              <a:buNone/>
            </a:pPr>
            <a:r>
              <a:rPr lang="en-US" sz="2500" dirty="0">
                <a:solidFill>
                  <a:srgbClr val="DCE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with over </a:t>
            </a:r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24,000 learners</a:t>
            </a:r>
            <a:pPr indent="0" marL="0">
              <a:lnSpc>
                <a:spcPct val="105000"/>
              </a:lnSpc>
              <a:buNone/>
            </a:pPr>
            <a:r>
              <a:rPr lang="en-US" sz="2500" dirty="0">
                <a:solidFill>
                  <a:srgbClr val="DCE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enrolled.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594360" y="3611880"/>
            <a:ext cx="1589227" cy="457200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3611880"/>
            <a:ext cx="1589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384755" y="3611880"/>
            <a:ext cx="1292962" cy="457200"/>
          </a:xfrm>
          <a:prstGeom prst="roundRect">
            <a:avLst>
              <a:gd name="adj" fmla="val 50000"/>
            </a:avLst>
          </a:prstGeom>
          <a:solidFill>
            <a:srgbClr val="8B7CF6"/>
          </a:solidFill>
          <a:ln/>
        </p:spPr>
      </p:sp>
      <p:sp>
        <p:nvSpPr>
          <p:cNvPr id="12" name="Text 9"/>
          <p:cNvSpPr/>
          <p:nvPr/>
        </p:nvSpPr>
        <p:spPr>
          <a:xfrm>
            <a:off x="2384755" y="3611880"/>
            <a:ext cx="12929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878885" y="3611880"/>
            <a:ext cx="1292962" cy="4572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14" name="Text 11"/>
          <p:cNvSpPr/>
          <p:nvPr/>
        </p:nvSpPr>
        <p:spPr>
          <a:xfrm>
            <a:off x="3878885" y="3611880"/>
            <a:ext cx="12929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373014" y="3611880"/>
            <a:ext cx="996696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6" name="Text 13"/>
          <p:cNvSpPr/>
          <p:nvPr/>
        </p:nvSpPr>
        <p:spPr>
          <a:xfrm>
            <a:off x="5373014" y="3611880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570878" y="3611880"/>
            <a:ext cx="1490472" cy="457200"/>
          </a:xfrm>
          <a:prstGeom prst="roundRect">
            <a:avLst>
              <a:gd name="adj" fmla="val 50000"/>
            </a:avLst>
          </a:prstGeom>
          <a:solidFill>
            <a:srgbClr val="1C3C5E"/>
          </a:solidFill>
          <a:ln/>
        </p:spPr>
      </p:sp>
      <p:sp>
        <p:nvSpPr>
          <p:cNvPr id="18" name="Text 15"/>
          <p:cNvSpPr/>
          <p:nvPr/>
        </p:nvSpPr>
        <p:spPr>
          <a:xfrm>
            <a:off x="6570878" y="361188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94360" y="4343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— every token gets a BIO tag (Begin / Inside / Outside an entity):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94360" y="4754880"/>
            <a:ext cx="14630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94360" y="48463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4360" y="52303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B-ORG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221992" y="475488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221992" y="48463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221992" y="52303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I-ORG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346704" y="475488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3346704" y="48463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Leeds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346704" y="52303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I-ORG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471416" y="4754880"/>
            <a:ext cx="10058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471416" y="4846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471416" y="52303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641848" y="475488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5641848" y="48463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641848" y="52303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766560" y="4754880"/>
            <a:ext cx="10058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766560" y="4846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5-week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766560" y="52303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B-DUR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936992" y="4754880"/>
            <a:ext cx="14630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7936992" y="48463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7936992" y="52303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B-CAT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labeling is the bottleneck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646920" y="512064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F5F3"/>
          </a:solidFill>
          <a:ln/>
        </p:spPr>
      </p:sp>
      <p:sp>
        <p:nvSpPr>
          <p:cNvPr id="6" name="Text 3"/>
          <p:cNvSpPr/>
          <p:nvPr/>
        </p:nvSpPr>
        <p:spPr>
          <a:xfrm>
            <a:off x="9646920" y="51206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2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4360" y="13716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learn, modern NER needs huge token-level labeled datasets. Producing them is the single biggest cost: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4360" y="2377440"/>
            <a:ext cx="6126480" cy="749808"/>
          </a:xfrm>
          <a:prstGeom prst="roundRect">
            <a:avLst>
              <a:gd name="adj" fmla="val 10976"/>
            </a:avLst>
          </a:prstGeom>
          <a:solidFill>
            <a:srgbClr val="E8F5F3"/>
          </a:solidFill>
          <a:ln w="12700">
            <a:solidFill>
              <a:srgbClr val="CDE7E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237744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Expensive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697480" y="2377440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boundaries need skilled annotators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3291840"/>
            <a:ext cx="6126480" cy="749808"/>
          </a:xfrm>
          <a:prstGeom prst="roundRect">
            <a:avLst>
              <a:gd name="adj" fmla="val 10976"/>
            </a:avLst>
          </a:prstGeom>
          <a:solidFill>
            <a:srgbClr val="E8F5F3"/>
          </a:solidFill>
          <a:ln w="12700">
            <a:solidFill>
              <a:srgbClr val="CDE7E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" y="329184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697480" y="3291840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prep cycles delay deployment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" y="4206240"/>
            <a:ext cx="6126480" cy="749808"/>
          </a:xfrm>
          <a:prstGeom prst="roundRect">
            <a:avLst>
              <a:gd name="adj" fmla="val 10976"/>
            </a:avLst>
          </a:prstGeom>
          <a:solidFill>
            <a:srgbClr val="E8F5F3"/>
          </a:solidFill>
          <a:ln w="12700">
            <a:solidFill>
              <a:srgbClr val="CDE7E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" y="420624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Domain-bound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697480" y="4206240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fields need re-annotation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086600" y="1371600"/>
            <a:ext cx="4526280" cy="4663440"/>
          </a:xfrm>
          <a:prstGeom prst="roundRect">
            <a:avLst>
              <a:gd name="adj" fmla="val 1818"/>
            </a:avLst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315200" y="1645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TENSION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315200" y="2240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accuracy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31520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2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demands more labeled data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 rot="5400000">
            <a:off x="9052560" y="3154680"/>
            <a:ext cx="457200" cy="384048"/>
          </a:xfrm>
          <a:prstGeom prst="rtTriangle">
            <a:avLst/>
          </a:prstGeom>
          <a:solidFill>
            <a:srgbClr val="F5A623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0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2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labeling is the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315200" y="40050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biggest cost &amp; barrier</a:t>
            </a:r>
            <a:endParaRPr lang="en-US" sz="2300" dirty="0"/>
          </a:p>
        </p:txBody>
      </p:sp>
      <p:sp>
        <p:nvSpPr>
          <p:cNvPr id="24" name="Shape 21"/>
          <p:cNvSpPr/>
          <p:nvPr/>
        </p:nvSpPr>
        <p:spPr>
          <a:xfrm>
            <a:off x="7315200" y="484632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1C3C5E"/>
          </a:solidFill>
          <a:ln/>
        </p:spPr>
      </p:sp>
      <p:sp>
        <p:nvSpPr>
          <p:cNvPr id="25" name="Text 22"/>
          <p:cNvSpPr/>
          <p:nvPr/>
        </p:nvSpPr>
        <p:spPr>
          <a:xfrm>
            <a:off x="7498080" y="484632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cut labeling effort without losing performance?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gap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94360" y="13258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is a known answer to costly labeling — but its behaviour on domain-specific NER, and on online-education text in particular, is barely studied.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94360" y="224028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2240280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0E9384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24028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know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108960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cuts annotation cost in many NLP tasks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sampling is a proven strategy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BiLSTM-CRF is a strong sequence baseline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09360" y="224028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2240280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F5A623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224028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missing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629400" y="3108960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on domain-specific NER under-studied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Online-education text rarely explored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entities seldom linked to value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9436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thesis fills the gap: it designs, builds and evaluates an AL framework for NER on a real online-course corpus.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Aim, objectives &amp; research questions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646920" y="512064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F5F3"/>
          </a:solidFill>
          <a:ln/>
        </p:spPr>
      </p:sp>
      <p:sp>
        <p:nvSpPr>
          <p:cNvPr id="6" name="Text 3"/>
          <p:cNvSpPr/>
          <p:nvPr/>
        </p:nvSpPr>
        <p:spPr>
          <a:xfrm>
            <a:off x="9646920" y="51206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371600"/>
            <a:ext cx="11018520" cy="868680"/>
          </a:xfrm>
          <a:prstGeom prst="roundRect">
            <a:avLst>
              <a:gd name="adj" fmla="val 9474"/>
            </a:avLst>
          </a:prstGeom>
          <a:solidFill>
            <a:srgbClr val="0F2540"/>
          </a:solidFill>
          <a:ln/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13716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  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evaluate an active-learning framework for NER that minimises labeling while preserving predictive performance.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94360" y="2468880"/>
            <a:ext cx="5349240" cy="347472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2651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9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14400" y="3200400"/>
            <a:ext cx="4800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supervised NER baseline</a:t>
            </a:r>
            <a:endParaRPr lang="en-US" sz="1500" dirty="0"/>
          </a:p>
          <a:p>
            <a:pPr marL="342900" indent="-342900">
              <a:spcAft>
                <a:spcPts val="1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active-learning query strategies</a:t>
            </a:r>
            <a:endParaRPr lang="en-US" sz="1500" dirty="0"/>
          </a:p>
          <a:p>
            <a:pPr marL="342900" indent="-342900">
              <a:spcAft>
                <a:spcPts val="1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impact on annotation efficiency</a:t>
            </a:r>
            <a:endParaRPr lang="en-US" sz="1500" dirty="0"/>
          </a:p>
          <a:p>
            <a:pPr marL="342900" indent="-342900">
              <a:spcAft>
                <a:spcPts val="1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performance across labeling budgets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63640" y="2468880"/>
            <a:ext cx="5349240" cy="3474720"/>
          </a:xfrm>
          <a:prstGeom prst="roundRect">
            <a:avLst>
              <a:gd name="adj" fmla="val 2368"/>
            </a:avLst>
          </a:prstGeom>
          <a:solidFill>
            <a:srgbClr val="E8F5F3"/>
          </a:solidFill>
          <a:ln w="12700">
            <a:solidFill>
              <a:srgbClr val="CDE7E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37960" y="2651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583680" y="3200400"/>
            <a:ext cx="4800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can AL reduce the labels needed?</a:t>
            </a:r>
            <a:endParaRPr lang="en-US" sz="15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query strategies work best?</a:t>
            </a:r>
            <a:endParaRPr lang="en-US" sz="15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performance evolve per iteration?</a:t>
            </a:r>
            <a:endParaRPr lang="en-US" sz="15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cost–accuracy trade-off?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Object, subject &amp; methods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646920" y="512064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F5F3"/>
          </a:solidFill>
          <a:ln/>
        </p:spPr>
      </p:sp>
      <p:sp>
        <p:nvSpPr>
          <p:cNvPr id="6" name="Text 3"/>
          <p:cNvSpPr/>
          <p:nvPr/>
        </p:nvSpPr>
        <p:spPr>
          <a:xfrm>
            <a:off x="9646920" y="51206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4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508760"/>
            <a:ext cx="345643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88366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68680" y="25146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systems built with supervised deep learning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325112" y="1508760"/>
            <a:ext cx="345643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99432" y="1737360"/>
            <a:ext cx="640080" cy="640080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188366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76672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599432" y="25146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Active-learning strategies that cut annotation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55864" y="1508760"/>
            <a:ext cx="345643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30184" y="1737360"/>
            <a:ext cx="640080" cy="640080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1883664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07424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8330184" y="25146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study: baseline vs. AL cycles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9436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Evaluated with three standard metrics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594360" y="4526280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822960" y="4681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F0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822960" y="51389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2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predicted entities are correct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325112" y="4526280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4553712" y="4681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F0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4553712" y="51389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2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true entities are found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8055864" y="4526280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8284464" y="4681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F0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8284464" y="51389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2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of the two (our headline)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NER evolved — and our choice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646920" y="512064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F5F3"/>
          </a:solidFill>
          <a:ln/>
        </p:spPr>
      </p:sp>
      <p:sp>
        <p:nvSpPr>
          <p:cNvPr id="6" name="Text 3"/>
          <p:cNvSpPr/>
          <p:nvPr/>
        </p:nvSpPr>
        <p:spPr>
          <a:xfrm>
            <a:off x="9646920" y="51206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3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874520"/>
            <a:ext cx="2697480" cy="31546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623060" y="2103120"/>
            <a:ext cx="640080" cy="640080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9" name="Text 6"/>
          <p:cNvSpPr/>
          <p:nvPr/>
        </p:nvSpPr>
        <p:spPr>
          <a:xfrm>
            <a:off x="16230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772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22960" y="3383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rules &amp; gazetteers. Precise but rigid.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4617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10128" y="2240280"/>
            <a:ext cx="146304" cy="274320"/>
          </a:xfrm>
          <a:prstGeom prst="rtTriangle">
            <a:avLst/>
          </a:prstGeom>
          <a:solidFill>
            <a:srgbClr val="0FB5A6"/>
          </a:solidFill>
          <a:ln/>
        </p:spPr>
      </p:sp>
      <p:sp>
        <p:nvSpPr>
          <p:cNvPr id="14" name="Shape 11"/>
          <p:cNvSpPr/>
          <p:nvPr/>
        </p:nvSpPr>
        <p:spPr>
          <a:xfrm>
            <a:off x="3456432" y="1874520"/>
            <a:ext cx="2697480" cy="31546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85132" y="2103120"/>
            <a:ext cx="640080" cy="640080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16" name="Text 13"/>
          <p:cNvSpPr/>
          <p:nvPr/>
        </p:nvSpPr>
        <p:spPr>
          <a:xfrm>
            <a:off x="448513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639312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3685032" y="3383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/ CRF learn from data; CRF enforces valid tags.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639312" y="4617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72200" y="2240280"/>
            <a:ext cx="146304" cy="274320"/>
          </a:xfrm>
          <a:prstGeom prst="rtTriangle">
            <a:avLst/>
          </a:prstGeom>
          <a:solidFill>
            <a:srgbClr val="0FB5A6"/>
          </a:solidFill>
          <a:ln/>
        </p:spPr>
      </p:sp>
      <p:sp>
        <p:nvSpPr>
          <p:cNvPr id="21" name="Shape 18"/>
          <p:cNvSpPr/>
          <p:nvPr/>
        </p:nvSpPr>
        <p:spPr>
          <a:xfrm>
            <a:off x="6318504" y="1874520"/>
            <a:ext cx="2697480" cy="3154680"/>
          </a:xfrm>
          <a:prstGeom prst="roundRect">
            <a:avLst>
              <a:gd name="adj" fmla="val 3051"/>
            </a:avLst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47204" y="210312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0"/>
          <p:cNvSpPr/>
          <p:nvPr/>
        </p:nvSpPr>
        <p:spPr>
          <a:xfrm>
            <a:off x="734720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00" dirty="0"/>
          </a:p>
        </p:txBody>
      </p:sp>
      <p:sp>
        <p:nvSpPr>
          <p:cNvPr id="24" name="Text 21"/>
          <p:cNvSpPr/>
          <p:nvPr/>
        </p:nvSpPr>
        <p:spPr>
          <a:xfrm>
            <a:off x="6501384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6547104" y="3383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2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BiLSTM-CRF + embeddings learn context automatically.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501384" y="4617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034272" y="2240280"/>
            <a:ext cx="146304" cy="274320"/>
          </a:xfrm>
          <a:prstGeom prst="rtTriangle">
            <a:avLst/>
          </a:prstGeom>
          <a:solidFill>
            <a:srgbClr val="0FB5A6"/>
          </a:solidFill>
          <a:ln/>
        </p:spPr>
      </p:sp>
      <p:sp>
        <p:nvSpPr>
          <p:cNvPr id="28" name="Shape 25"/>
          <p:cNvSpPr/>
          <p:nvPr/>
        </p:nvSpPr>
        <p:spPr>
          <a:xfrm>
            <a:off x="9180576" y="1874520"/>
            <a:ext cx="2697480" cy="31546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10209276" y="2103120"/>
            <a:ext cx="640080" cy="640080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30" name="Text 27"/>
          <p:cNvSpPr/>
          <p:nvPr/>
        </p:nvSpPr>
        <p:spPr>
          <a:xfrm>
            <a:off x="10209276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300" dirty="0"/>
          </a:p>
        </p:txBody>
      </p:sp>
      <p:sp>
        <p:nvSpPr>
          <p:cNvPr id="31" name="Text 28"/>
          <p:cNvSpPr/>
          <p:nvPr/>
        </p:nvSpPr>
        <p:spPr>
          <a:xfrm>
            <a:off x="9363456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9409176" y="3383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BERT-style pretraining; top accuracy, heavy compute.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9363456" y="4617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2019+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94360" y="5257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BiLSTM-CRF (step 3): strong yet lightweight, so the gains we measure come from the active-learning strategy — not a bigger model.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594360"/>
            <a:ext cx="292608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active learning works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316736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sample teaches equally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94360" y="1554480"/>
            <a:ext cx="5943600" cy="4526280"/>
          </a:xfrm>
          <a:prstGeom prst="roundRect">
            <a:avLst>
              <a:gd name="adj" fmla="val 1818"/>
            </a:avLst>
          </a:prstGeom>
          <a:solidFill>
            <a:srgbClr val="1C3C5E"/>
          </a:solidFill>
          <a:ln w="12700">
            <a:solidFill>
              <a:srgbClr val="1C3C5E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371600" y="5669280"/>
            <a:ext cx="4297680" cy="-3383280"/>
          </a:xfrm>
          <a:prstGeom prst="line">
            <a:avLst/>
          </a:prstGeom>
          <a:noFill/>
          <a:ln w="31750">
            <a:solidFill>
              <a:srgbClr val="F5A623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4297680" y="18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783080" y="219456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10" name="Shape 7"/>
          <p:cNvSpPr/>
          <p:nvPr/>
        </p:nvSpPr>
        <p:spPr>
          <a:xfrm>
            <a:off x="2240280" y="201168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11" name="Shape 8"/>
          <p:cNvSpPr/>
          <p:nvPr/>
        </p:nvSpPr>
        <p:spPr>
          <a:xfrm>
            <a:off x="2788920" y="228600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12" name="Shape 9"/>
          <p:cNvSpPr/>
          <p:nvPr/>
        </p:nvSpPr>
        <p:spPr>
          <a:xfrm>
            <a:off x="2057400" y="265176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13" name="Shape 10"/>
          <p:cNvSpPr/>
          <p:nvPr/>
        </p:nvSpPr>
        <p:spPr>
          <a:xfrm>
            <a:off x="2606040" y="274320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14" name="Shape 11"/>
          <p:cNvSpPr/>
          <p:nvPr/>
        </p:nvSpPr>
        <p:spPr>
          <a:xfrm>
            <a:off x="1874520" y="320040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15" name="Shape 12"/>
          <p:cNvSpPr/>
          <p:nvPr/>
        </p:nvSpPr>
        <p:spPr>
          <a:xfrm>
            <a:off x="2423160" y="329184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16" name="Shape 13"/>
          <p:cNvSpPr/>
          <p:nvPr/>
        </p:nvSpPr>
        <p:spPr>
          <a:xfrm>
            <a:off x="1965960" y="384048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17" name="Shape 14"/>
          <p:cNvSpPr/>
          <p:nvPr/>
        </p:nvSpPr>
        <p:spPr>
          <a:xfrm>
            <a:off x="2697480" y="393192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18" name="Shape 15"/>
          <p:cNvSpPr/>
          <p:nvPr/>
        </p:nvSpPr>
        <p:spPr>
          <a:xfrm>
            <a:off x="2331720" y="448056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19" name="Shape 16"/>
          <p:cNvSpPr/>
          <p:nvPr/>
        </p:nvSpPr>
        <p:spPr>
          <a:xfrm>
            <a:off x="1874520" y="493776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20" name="Shape 17"/>
          <p:cNvSpPr/>
          <p:nvPr/>
        </p:nvSpPr>
        <p:spPr>
          <a:xfrm>
            <a:off x="2606040" y="512064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21" name="Shape 18"/>
          <p:cNvSpPr/>
          <p:nvPr/>
        </p:nvSpPr>
        <p:spPr>
          <a:xfrm>
            <a:off x="2148840" y="539496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22" name="Shape 19"/>
          <p:cNvSpPr/>
          <p:nvPr/>
        </p:nvSpPr>
        <p:spPr>
          <a:xfrm>
            <a:off x="5715000" y="228600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23" name="Shape 20"/>
          <p:cNvSpPr/>
          <p:nvPr/>
        </p:nvSpPr>
        <p:spPr>
          <a:xfrm>
            <a:off x="6172200" y="265176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24" name="Shape 21"/>
          <p:cNvSpPr/>
          <p:nvPr/>
        </p:nvSpPr>
        <p:spPr>
          <a:xfrm>
            <a:off x="5532120" y="301752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25" name="Shape 22"/>
          <p:cNvSpPr/>
          <p:nvPr/>
        </p:nvSpPr>
        <p:spPr>
          <a:xfrm>
            <a:off x="6263640" y="338328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26" name="Shape 23"/>
          <p:cNvSpPr/>
          <p:nvPr/>
        </p:nvSpPr>
        <p:spPr>
          <a:xfrm>
            <a:off x="5806440" y="374904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27" name="Shape 24"/>
          <p:cNvSpPr/>
          <p:nvPr/>
        </p:nvSpPr>
        <p:spPr>
          <a:xfrm>
            <a:off x="6355080" y="420624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28" name="Shape 25"/>
          <p:cNvSpPr/>
          <p:nvPr/>
        </p:nvSpPr>
        <p:spPr>
          <a:xfrm>
            <a:off x="5623560" y="457200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29" name="Shape 26"/>
          <p:cNvSpPr/>
          <p:nvPr/>
        </p:nvSpPr>
        <p:spPr>
          <a:xfrm>
            <a:off x="6172200" y="493776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30" name="Shape 27"/>
          <p:cNvSpPr/>
          <p:nvPr/>
        </p:nvSpPr>
        <p:spPr>
          <a:xfrm>
            <a:off x="5897880" y="530352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31" name="Shape 28"/>
          <p:cNvSpPr/>
          <p:nvPr/>
        </p:nvSpPr>
        <p:spPr>
          <a:xfrm>
            <a:off x="6446520" y="2834640"/>
            <a:ext cx="219456" cy="219456"/>
          </a:xfrm>
          <a:prstGeom prst="ellipse">
            <a:avLst/>
          </a:prstGeom>
          <a:solidFill>
            <a:srgbClr val="4E6E8E"/>
          </a:solidFill>
          <a:ln/>
        </p:spPr>
      </p:sp>
      <p:sp>
        <p:nvSpPr>
          <p:cNvPr id="32" name="Shape 29"/>
          <p:cNvSpPr/>
          <p:nvPr/>
        </p:nvSpPr>
        <p:spPr>
          <a:xfrm>
            <a:off x="3337560" y="2907792"/>
            <a:ext cx="310896" cy="310896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794760" y="3547872"/>
            <a:ext cx="310896" cy="310896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160520" y="4096512"/>
            <a:ext cx="310896" cy="310896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611880" y="4279392"/>
            <a:ext cx="310896" cy="310896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434840" y="3273552"/>
            <a:ext cx="310896" cy="310896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246120" y="3730752"/>
            <a:ext cx="310896" cy="310896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22960" y="5623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queried by the model    </a:t>
            </a:r>
            <a:pPr indent="0" marL="0">
              <a:buNone/>
            </a:pPr>
            <a:r>
              <a:rPr lang="en-US" sz="1150" dirty="0">
                <a:solidFill>
                  <a:srgbClr val="4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(easy / redundant)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6812280" y="17830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asks for labels only where it is unsure</a:t>
            </a:r>
            <a:endParaRPr lang="en-US" sz="2200" dirty="0"/>
          </a:p>
        </p:txBody>
      </p:sp>
      <p:sp>
        <p:nvSpPr>
          <p:cNvPr id="40" name="Shape 37"/>
          <p:cNvSpPr/>
          <p:nvPr/>
        </p:nvSpPr>
        <p:spPr>
          <a:xfrm>
            <a:off x="6812280" y="2834640"/>
            <a:ext cx="256032" cy="256032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41" name="Text 38"/>
          <p:cNvSpPr/>
          <p:nvPr/>
        </p:nvSpPr>
        <p:spPr>
          <a:xfrm>
            <a:off x="7223760" y="278892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points (near the boundary) — </a:t>
            </a:r>
            <a:pPr indent="0" marL="0">
              <a:buNone/>
            </a:pPr>
            <a:r>
              <a:rPr lang="en-US" sz="135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the most information — they sharpen where one entity type ends and another begins.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812280" y="3886200"/>
            <a:ext cx="256032" cy="256032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43" name="Text 40"/>
          <p:cNvSpPr/>
          <p:nvPr/>
        </p:nvSpPr>
        <p:spPr>
          <a:xfrm>
            <a:off x="7223760" y="384048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easy majority — </a:t>
            </a:r>
            <a:pPr indent="0" marL="0">
              <a:buNone/>
            </a:pPr>
            <a:r>
              <a:rPr lang="en-US" sz="135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already predicted correctly, so labeling it adds little and wastes budget.</a:t>
            </a:r>
            <a:endParaRPr lang="en-US" sz="1350" dirty="0"/>
          </a:p>
        </p:txBody>
      </p:sp>
      <p:sp>
        <p:nvSpPr>
          <p:cNvPr id="44" name="Shape 41"/>
          <p:cNvSpPr/>
          <p:nvPr/>
        </p:nvSpPr>
        <p:spPr>
          <a:xfrm>
            <a:off x="6812280" y="493776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5" name="Text 42"/>
          <p:cNvSpPr/>
          <p:nvPr/>
        </p:nvSpPr>
        <p:spPr>
          <a:xfrm>
            <a:off x="7223760" y="489204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</a:t>
            </a:r>
            <a:pPr indent="0" marL="0">
              <a:buNone/>
            </a:pPr>
            <a:r>
              <a:rPr lang="en-US" sz="135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well-chosen labels move the model as much as many random ones.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signals, one query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646920" y="512064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F5F3"/>
          </a:solidFill>
          <a:ln/>
        </p:spPr>
      </p:sp>
      <p:sp>
        <p:nvSpPr>
          <p:cNvPr id="6" name="Text 3"/>
          <p:cNvSpPr/>
          <p:nvPr/>
        </p:nvSpPr>
        <p:spPr>
          <a:xfrm>
            <a:off x="9646920" y="51206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3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436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rank unlabeled samples by combining two ideas: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4360" y="187452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E8F5F3"/>
          </a:solidFill>
          <a:ln w="12700">
            <a:solidFill>
              <a:srgbClr val="CDE7E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24942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21762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914400" y="28803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where the model is least confident — the boundary cases.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14400" y="3703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&amp; Gale, 1994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187452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E8F5F3"/>
          </a:solidFill>
          <a:ln w="12700">
            <a:solidFill>
              <a:srgbClr val="CDE7E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0" y="2103120"/>
            <a:ext cx="640080" cy="640080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224942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60920" y="21762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Diversity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6629400" y="28803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samples unlike each other — cover the whole data spread.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629400" y="3703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Sener &amp; Savarese, 2018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94360" y="4434840"/>
            <a:ext cx="11018520" cy="1280160"/>
          </a:xfrm>
          <a:prstGeom prst="roundRect">
            <a:avLst>
              <a:gd name="adj" fmla="val 7143"/>
            </a:avLst>
          </a:prstGeom>
          <a:solidFill>
            <a:srgbClr val="0F2540"/>
          </a:solidFill>
          <a:ln/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914400" y="44348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query = uncertainty + diversity.  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alone clusters on redundant, noisy points; adding diversity guarantees broad coverage and faster learning.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594360"/>
            <a:ext cx="310896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proposed framework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316736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contribution · a pool-based loop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1C3C5E"/>
          </a:solidFill>
          <a:ln w="19050">
            <a:solidFill>
              <a:srgbClr val="0FB5A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F0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63040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set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463040" y="2450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2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labeled start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26280" y="1737360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1C3C5E"/>
          </a:solidFill>
          <a:ln w="19050">
            <a:solidFill>
              <a:srgbClr val="0FB5A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5488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F0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349240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BiLSTM-CRF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349240" y="2450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2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labeled set 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412480" y="1737360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1C3C5E"/>
          </a:solidFill>
          <a:ln w="19050">
            <a:solidFill>
              <a:srgbClr val="0FB5A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64108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F0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235440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the pool U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9235440" y="2450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2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informativeness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12480" y="4160520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F5A623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64108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235440" y="43616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query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9235440" y="4873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+ diversity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526280" y="4160520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1C3C5E"/>
          </a:solidFill>
          <a:ln w="19050">
            <a:solidFill>
              <a:srgbClr val="0FB5A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75488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F0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349240" y="43616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Annotate batch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5349240" y="4873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2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BIO labels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40080" y="4160520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1C3C5E"/>
          </a:solidFill>
          <a:ln w="19050">
            <a:solidFill>
              <a:srgbClr val="0FB5A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6868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F0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1463040" y="43616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to L · retrain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463040" y="4873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2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budget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078224" y="2253996"/>
            <a:ext cx="384048" cy="292608"/>
          </a:xfrm>
          <a:prstGeom prst="rtTriangle">
            <a:avLst/>
          </a:prstGeom>
          <a:solidFill>
            <a:srgbClr val="8AF0E4"/>
          </a:solidFill>
          <a:ln/>
        </p:spPr>
      </p:sp>
      <p:sp>
        <p:nvSpPr>
          <p:cNvPr id="31" name="Shape 28"/>
          <p:cNvSpPr/>
          <p:nvPr/>
        </p:nvSpPr>
        <p:spPr>
          <a:xfrm>
            <a:off x="7964424" y="2253996"/>
            <a:ext cx="384048" cy="292608"/>
          </a:xfrm>
          <a:prstGeom prst="rtTriangle">
            <a:avLst/>
          </a:prstGeom>
          <a:solidFill>
            <a:srgbClr val="8AF0E4"/>
          </a:solidFill>
          <a:ln/>
        </p:spPr>
      </p:sp>
      <p:sp>
        <p:nvSpPr>
          <p:cNvPr id="32" name="Shape 29"/>
          <p:cNvSpPr/>
          <p:nvPr/>
        </p:nvSpPr>
        <p:spPr>
          <a:xfrm rot="5400000">
            <a:off x="9957816" y="3108960"/>
            <a:ext cx="292608" cy="384048"/>
          </a:xfrm>
          <a:prstGeom prst="rtTriangle">
            <a:avLst/>
          </a:prstGeom>
          <a:solidFill>
            <a:srgbClr val="8AF0E4"/>
          </a:solidFill>
          <a:ln/>
        </p:spPr>
      </p:sp>
      <p:sp>
        <p:nvSpPr>
          <p:cNvPr id="33" name="Shape 30"/>
          <p:cNvSpPr/>
          <p:nvPr/>
        </p:nvSpPr>
        <p:spPr>
          <a:xfrm rot="10800000">
            <a:off x="7973568" y="4677156"/>
            <a:ext cx="384048" cy="292608"/>
          </a:xfrm>
          <a:prstGeom prst="rtTriangle">
            <a:avLst/>
          </a:prstGeom>
          <a:solidFill>
            <a:srgbClr val="8AF0E4"/>
          </a:solidFill>
          <a:ln/>
        </p:spPr>
      </p:sp>
      <p:sp>
        <p:nvSpPr>
          <p:cNvPr id="34" name="Shape 31"/>
          <p:cNvSpPr/>
          <p:nvPr/>
        </p:nvSpPr>
        <p:spPr>
          <a:xfrm rot="10800000">
            <a:off x="4087368" y="4677156"/>
            <a:ext cx="384048" cy="292608"/>
          </a:xfrm>
          <a:prstGeom prst="rtTriangle">
            <a:avLst/>
          </a:prstGeom>
          <a:solidFill>
            <a:srgbClr val="8AF0E4"/>
          </a:solidFill>
          <a:ln/>
        </p:spPr>
      </p:sp>
      <p:sp>
        <p:nvSpPr>
          <p:cNvPr id="35" name="Text 32"/>
          <p:cNvSpPr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cycle adds only the most useful labels — the efficiency comes from step 4.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data: 1,000 FutureLearn courses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646920" y="512064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F5F3"/>
          </a:solidFill>
          <a:ln/>
        </p:spPr>
      </p:sp>
      <p:sp>
        <p:nvSpPr>
          <p:cNvPr id="6" name="Text 3"/>
          <p:cNvSpPr/>
          <p:nvPr/>
        </p:nvSpPr>
        <p:spPr>
          <a:xfrm>
            <a:off x="9646920" y="51206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5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5087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16733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8AF0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73152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83280" y="15087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20440" y="16733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8AF0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352044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72200" y="15087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09360" y="16733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8AF0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3300" dirty="0"/>
          </a:p>
        </p:txBody>
      </p:sp>
      <p:sp>
        <p:nvSpPr>
          <p:cNvPr id="15" name="Text 12"/>
          <p:cNvSpPr/>
          <p:nvPr/>
        </p:nvSpPr>
        <p:spPr>
          <a:xfrm>
            <a:off x="630936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961120" y="15087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098280" y="16733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8AF0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4.70/5</a:t>
            </a:r>
            <a:endParaRPr lang="en-US" sz="3300" dirty="0"/>
          </a:p>
        </p:txBody>
      </p:sp>
      <p:sp>
        <p:nvSpPr>
          <p:cNvPr id="18" name="Text 15"/>
          <p:cNvSpPr/>
          <p:nvPr/>
        </p:nvSpPr>
        <p:spPr>
          <a:xfrm>
            <a:off x="909828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4360" y="3017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870 free (87%) / 130 paid (13%)  ·  price £0–120  ·  duration 1–11 weeks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9436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594360" y="3977640"/>
            <a:ext cx="1993392" cy="777240"/>
          </a:xfrm>
          <a:prstGeom prst="roundRect">
            <a:avLst>
              <a:gd name="adj" fmla="val 10588"/>
            </a:avLst>
          </a:prstGeom>
          <a:solidFill>
            <a:srgbClr val="E8F5F3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397764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2606040" y="4206240"/>
            <a:ext cx="256032" cy="310896"/>
          </a:xfrm>
          <a:prstGeom prst="rtTriangle">
            <a:avLst/>
          </a:prstGeom>
          <a:solidFill>
            <a:srgbClr val="0FB5A6"/>
          </a:solidFill>
          <a:ln/>
        </p:spPr>
      </p:sp>
      <p:sp>
        <p:nvSpPr>
          <p:cNvPr id="24" name="Shape 21"/>
          <p:cNvSpPr/>
          <p:nvPr/>
        </p:nvSpPr>
        <p:spPr>
          <a:xfrm>
            <a:off x="2880360" y="3977640"/>
            <a:ext cx="1993392" cy="777240"/>
          </a:xfrm>
          <a:prstGeom prst="roundRect">
            <a:avLst>
              <a:gd name="adj" fmla="val 10588"/>
            </a:avLst>
          </a:prstGeom>
          <a:solidFill>
            <a:srgbClr val="E8F5F3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880360" y="397764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892040" y="4206240"/>
            <a:ext cx="256032" cy="310896"/>
          </a:xfrm>
          <a:prstGeom prst="rtTriangle">
            <a:avLst/>
          </a:prstGeom>
          <a:solidFill>
            <a:srgbClr val="0FB5A6"/>
          </a:solidFill>
          <a:ln/>
        </p:spPr>
      </p:sp>
      <p:sp>
        <p:nvSpPr>
          <p:cNvPr id="27" name="Shape 24"/>
          <p:cNvSpPr/>
          <p:nvPr/>
        </p:nvSpPr>
        <p:spPr>
          <a:xfrm>
            <a:off x="5166360" y="3977640"/>
            <a:ext cx="1993392" cy="777240"/>
          </a:xfrm>
          <a:prstGeom prst="roundRect">
            <a:avLst>
              <a:gd name="adj" fmla="val 10588"/>
            </a:avLst>
          </a:prstGeom>
          <a:solidFill>
            <a:srgbClr val="E8F5F3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66360" y="397764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178040" y="4206240"/>
            <a:ext cx="256032" cy="310896"/>
          </a:xfrm>
          <a:prstGeom prst="rtTriangle">
            <a:avLst/>
          </a:prstGeom>
          <a:solidFill>
            <a:srgbClr val="0FB5A6"/>
          </a:solidFill>
          <a:ln/>
        </p:spPr>
      </p:sp>
      <p:sp>
        <p:nvSpPr>
          <p:cNvPr id="30" name="Shape 27"/>
          <p:cNvSpPr/>
          <p:nvPr/>
        </p:nvSpPr>
        <p:spPr>
          <a:xfrm>
            <a:off x="7452360" y="3977640"/>
            <a:ext cx="1993392" cy="777240"/>
          </a:xfrm>
          <a:prstGeom prst="roundRect">
            <a:avLst>
              <a:gd name="adj" fmla="val 10588"/>
            </a:avLst>
          </a:prstGeom>
          <a:solidFill>
            <a:srgbClr val="E8F5F3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52360" y="397764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tag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9464040" y="4206240"/>
            <a:ext cx="256032" cy="310896"/>
          </a:xfrm>
          <a:prstGeom prst="rtTriangle">
            <a:avLst/>
          </a:prstGeom>
          <a:solidFill>
            <a:srgbClr val="0FB5A6"/>
          </a:solidFill>
          <a:ln/>
        </p:spPr>
      </p:sp>
      <p:sp>
        <p:nvSpPr>
          <p:cNvPr id="33" name="Shape 30"/>
          <p:cNvSpPr/>
          <p:nvPr/>
        </p:nvSpPr>
        <p:spPr>
          <a:xfrm>
            <a:off x="9738360" y="3977640"/>
            <a:ext cx="1993392" cy="777240"/>
          </a:xfrm>
          <a:prstGeom prst="roundRect">
            <a:avLst>
              <a:gd name="adj" fmla="val 10588"/>
            </a:avLst>
          </a:prstGeom>
          <a:solidFill>
            <a:srgbClr val="E8F5F3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738360" y="397764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/ pool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59436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types extracted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594360" y="5486400"/>
            <a:ext cx="1589227" cy="457200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37" name="Text 34"/>
          <p:cNvSpPr/>
          <p:nvPr/>
        </p:nvSpPr>
        <p:spPr>
          <a:xfrm>
            <a:off x="594360" y="5486400"/>
            <a:ext cx="1589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2412187" y="5486400"/>
            <a:ext cx="1292962" cy="4572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39" name="Text 36"/>
          <p:cNvSpPr/>
          <p:nvPr/>
        </p:nvSpPr>
        <p:spPr>
          <a:xfrm>
            <a:off x="2412187" y="5486400"/>
            <a:ext cx="12929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3933749" y="5486400"/>
            <a:ext cx="996696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41" name="Text 38"/>
          <p:cNvSpPr/>
          <p:nvPr/>
        </p:nvSpPr>
        <p:spPr>
          <a:xfrm>
            <a:off x="3933749" y="5486400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5159045" y="5486400"/>
            <a:ext cx="1292962" cy="457200"/>
          </a:xfrm>
          <a:prstGeom prst="roundRect">
            <a:avLst>
              <a:gd name="adj" fmla="val 50000"/>
            </a:avLst>
          </a:prstGeom>
          <a:solidFill>
            <a:srgbClr val="8B7CF6"/>
          </a:solidFill>
          <a:ln/>
        </p:spPr>
      </p:sp>
      <p:sp>
        <p:nvSpPr>
          <p:cNvPr id="43" name="Text 40"/>
          <p:cNvSpPr/>
          <p:nvPr/>
        </p:nvSpPr>
        <p:spPr>
          <a:xfrm>
            <a:off x="5159045" y="5486400"/>
            <a:ext cx="12929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6680606" y="5486400"/>
            <a:ext cx="1490472" cy="457200"/>
          </a:xfrm>
          <a:prstGeom prst="roundRect">
            <a:avLst>
              <a:gd name="adj" fmla="val 50000"/>
            </a:avLst>
          </a:prstGeom>
          <a:solidFill>
            <a:srgbClr val="1C3C5E"/>
          </a:solidFill>
          <a:ln/>
        </p:spPr>
      </p:sp>
      <p:sp>
        <p:nvSpPr>
          <p:cNvPr id="45" name="Text 42"/>
          <p:cNvSpPr/>
          <p:nvPr/>
        </p:nvSpPr>
        <p:spPr>
          <a:xfrm>
            <a:off x="6680606" y="548640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training &amp; learning curve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646920" y="512064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F5F3"/>
          </a:solidFill>
          <a:ln/>
        </p:spPr>
      </p:sp>
      <p:sp>
        <p:nvSpPr>
          <p:cNvPr id="6" name="Text 3"/>
          <p:cNvSpPr/>
          <p:nvPr/>
        </p:nvSpPr>
        <p:spPr>
          <a:xfrm>
            <a:off x="9646920" y="51206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5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436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iteration adds a batch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51206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37160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C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C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C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C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until budget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94360" y="4069080"/>
            <a:ext cx="5120640" cy="841248"/>
          </a:xfrm>
          <a:prstGeom prst="roundRect">
            <a:avLst>
              <a:gd name="adj" fmla="val 9783"/>
            </a:avLst>
          </a:prstGeom>
          <a:solidFill>
            <a:srgbClr val="E8F5F3"/>
          </a:solidFill>
          <a:ln w="12700">
            <a:solidFill>
              <a:srgbClr val="CDE7E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77240" y="4142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9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size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77240" y="44897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balances speed and query quality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94360" y="5029200"/>
            <a:ext cx="5120640" cy="841248"/>
          </a:xfrm>
          <a:prstGeom prst="roundRect">
            <a:avLst>
              <a:gd name="adj" fmla="val 9783"/>
            </a:avLst>
          </a:prstGeom>
          <a:solidFill>
            <a:srgbClr val="E8F5F3"/>
          </a:solidFill>
          <a:ln w="12700">
            <a:solidFill>
              <a:srgbClr val="CDE7E2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77240" y="5102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9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when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77240" y="54498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spent or performance plateaus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0350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learning climbs faster (illustrative)</a:t>
            </a:r>
            <a:endParaRPr lang="en-US" sz="16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989320" y="1828800"/>
          <a:ext cx="56235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1C3C5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03504"/>
            <a:ext cx="292608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4206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result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9509760" y="566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6 — synthesis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14400" y="1783080"/>
            <a:ext cx="4937760" cy="2788920"/>
          </a:xfrm>
          <a:prstGeom prst="roundRect">
            <a:avLst>
              <a:gd name="adj" fmla="val 3934"/>
            </a:avLst>
          </a:prstGeom>
          <a:solidFill>
            <a:srgbClr val="1C3C5E"/>
          </a:solidFill>
          <a:ln w="19050">
            <a:solidFill>
              <a:srgbClr val="3A5A7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96596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9200" dirty="0"/>
          </a:p>
        </p:txBody>
      </p:sp>
      <p:sp>
        <p:nvSpPr>
          <p:cNvPr id="9" name="Text 6"/>
          <p:cNvSpPr/>
          <p:nvPr/>
        </p:nvSpPr>
        <p:spPr>
          <a:xfrm>
            <a:off x="914400" y="3383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2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— full baseline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8221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data labeled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09360" y="1783080"/>
            <a:ext cx="4937760" cy="2788920"/>
          </a:xfrm>
          <a:prstGeom prst="roundRect">
            <a:avLst>
              <a:gd name="adj" fmla="val 3934"/>
            </a:avLst>
          </a:prstGeom>
          <a:solidFill>
            <a:srgbClr val="0E9384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196596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</a:t>
            </a:r>
            <a:endParaRPr lang="en-US" sz="9200" dirty="0"/>
          </a:p>
        </p:txBody>
      </p:sp>
      <p:sp>
        <p:nvSpPr>
          <p:cNvPr id="13" name="Text 10"/>
          <p:cNvSpPr/>
          <p:nvPr/>
        </p:nvSpPr>
        <p:spPr>
          <a:xfrm>
            <a:off x="6309360" y="3383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— active learning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09360" y="38221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40% of data labeled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14400" y="4892040"/>
            <a:ext cx="10332720" cy="1234440"/>
          </a:xfrm>
          <a:prstGeom prst="roundRect">
            <a:avLst>
              <a:gd name="adj" fmla="val 7407"/>
            </a:avLst>
          </a:prstGeom>
          <a:solidFill>
            <a:srgbClr val="F5A623"/>
          </a:solidFill>
          <a:ln/>
        </p:spPr>
      </p:sp>
      <p:sp>
        <p:nvSpPr>
          <p:cNvPr id="16" name="Text 13"/>
          <p:cNvSpPr/>
          <p:nvPr/>
        </p:nvSpPr>
        <p:spPr>
          <a:xfrm>
            <a:off x="1188720" y="489204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less labeling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only a  </a:t>
            </a:r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~2-point F1 drop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choosing what to label beats labeling everything.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Bonus: the data answers business questions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646920" y="512064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F5F3"/>
          </a:solidFill>
          <a:ln/>
        </p:spPr>
      </p:sp>
      <p:sp>
        <p:nvSpPr>
          <p:cNvPr id="6" name="Text 3"/>
          <p:cNvSpPr/>
          <p:nvPr/>
        </p:nvSpPr>
        <p:spPr>
          <a:xfrm>
            <a:off x="9646920" y="51206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Crit. 6 &amp; 9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436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9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Avg. enrollment per course</a:t>
            </a:r>
            <a:endParaRPr lang="en-US" sz="14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783080"/>
          <a:ext cx="49377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94360" y="5532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courses draw ≈ 15× more learners — counter-intuitive, but clear.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806440" y="1737360"/>
            <a:ext cx="27889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007608" y="19019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≠ supply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007608" y="2395728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~34,673 avg but only 58 courses (under-supplied).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778240" y="1737360"/>
            <a:ext cx="27889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979408" y="19019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979408" y="2395728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£59 underperforms both £39 and £79.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806440" y="3840480"/>
            <a:ext cx="27889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007608" y="40050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Duration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007608" y="4498848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week courses engage best (5-wk ≈ 15,343).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778240" y="3840480"/>
            <a:ext cx="27889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8979408" y="40050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8979408" y="4498848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Groningen leads per-course (~80,435); Leeds by scale.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findings to decisions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646920" y="512064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F5F3"/>
          </a:solidFill>
          <a:ln/>
        </p:spPr>
      </p:sp>
      <p:sp>
        <p:nvSpPr>
          <p:cNvPr id="6" name="Text 3"/>
          <p:cNvSpPr/>
          <p:nvPr/>
        </p:nvSpPr>
        <p:spPr>
          <a:xfrm>
            <a:off x="9646920" y="51206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7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554480"/>
            <a:ext cx="110185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700784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70078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194560" y="1554480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20–30 more Language courses (high demand, low supply)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" y="2304288"/>
            <a:ext cx="110185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45059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4505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194560" y="2304288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top free courses to paid (paid ≈ 15× engagement)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4360" y="3054096"/>
            <a:ext cx="110185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7240" y="32004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3200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194560" y="3054096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with high-efficiency partners like Groningen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94360" y="3803904"/>
            <a:ext cx="110185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77240" y="395020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39502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2194560" y="380390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 the £59 mid-tier toward clearer value pricing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94360" y="4553712"/>
            <a:ext cx="110185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77240" y="4700016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470001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2194560" y="4553712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2–5 week course designs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94360" y="5303520"/>
            <a:ext cx="110185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77240" y="5449824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54498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2194560" y="5303520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learner ratings systematically (~87% missing)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0E938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 &amp; outlook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646920" y="512064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8F5F3"/>
          </a:solidFill>
          <a:ln/>
        </p:spPr>
      </p:sp>
      <p:sp>
        <p:nvSpPr>
          <p:cNvPr id="6" name="Text 3"/>
          <p:cNvSpPr/>
          <p:nvPr/>
        </p:nvSpPr>
        <p:spPr>
          <a:xfrm>
            <a:off x="9646920" y="51206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Crit. 6 &amp; 9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" y="150876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" y="1508760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0E9384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15087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AL-NER framework (uncertainty + diversity) on online-education text, with entities turned into business analytics.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309360" y="150876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09360" y="1508760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0F2540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0" y="15087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Significance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583680" y="2240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NER at ~40% labeling cost — a scalable path for low-resource, real-world NLP.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94360" y="374904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3749040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B45309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374904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68680" y="4480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Single-domain data; BiLSTM-CRF (no transformer); aggregated platform-level business data.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309360" y="374904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09360" y="3749040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6D28D9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0" y="374904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583680" y="4480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backbones; hybrid AL + semi-supervised; multilingual &amp; user-level analysis.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3931920"/>
            <a:ext cx="4206240" cy="4206240"/>
          </a:xfrm>
          <a:prstGeom prst="ellipse">
            <a:avLst/>
          </a:prstGeom>
          <a:solidFill>
            <a:srgbClr val="1C3C5E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1645920"/>
            <a:ext cx="3474720" cy="3474720"/>
          </a:xfrm>
          <a:prstGeom prst="ellipse">
            <a:avLst/>
          </a:prstGeom>
          <a:solidFill>
            <a:srgbClr val="0FB5A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41248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welcome the council's questions.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1248" y="3931920"/>
            <a:ext cx="6858000" cy="18288"/>
          </a:xfrm>
          <a:prstGeom prst="roundRect">
            <a:avLst/>
          </a:prstGeom>
          <a:solidFill>
            <a:srgbClr val="0FB5A6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41605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Samadov Ismat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for Named Entity Recognition: Reducing Labeled Data Requirements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Tahir Gurbanov · UNEC Business School · Baku,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Active Learning for NER — Master Thesis Defence</dc:title>
  <dc:subject>PptxGenJS Presentation</dc:subject>
  <dc:creator>Ismat Samadov</dc:creator>
  <cp:lastModifiedBy>Ismat Samadov</cp:lastModifiedBy>
  <cp:revision>1</cp:revision>
  <dcterms:created xsi:type="dcterms:W3CDTF">2026-06-14T15:57:27Z</dcterms:created>
  <dcterms:modified xsi:type="dcterms:W3CDTF">2026-06-14T15:57:27Z</dcterms:modified>
</cp:coreProperties>
</file>